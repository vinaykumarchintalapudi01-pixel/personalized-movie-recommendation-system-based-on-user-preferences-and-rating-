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embeddedFontLst>
    <p:embeddedFont>
      <p:font typeface="Alice" pitchFamily="34" charset="0"/>
      <p:regular r:id="rId17"/>
    </p:embeddedFont>
    <p:embeddedFont>
      <p:font typeface="Alice" pitchFamily="34" charset="-122"/>
      <p:regular r:id="rId18"/>
    </p:embeddedFont>
    <p:embeddedFont>
      <p:font typeface="Alice" pitchFamily="34" charset="-120"/>
      <p:regular r:id="rId19"/>
    </p:embeddedFont>
    <p:embeddedFont>
      <p:font typeface="Lora" pitchFamily="34" charset="0"/>
      <p:regular r:id="rId20"/>
    </p:embeddedFont>
    <p:embeddedFont>
      <p:font typeface="Lora" pitchFamily="34" charset="-122"/>
      <p:regular r:id="rId21"/>
    </p:embeddedFont>
    <p:embeddedFont>
      <p:font typeface="Lora" pitchFamily="34" charset="-120"/>
      <p:regular r:id="rId22"/>
    </p:embeddedFont>
    <p:embeddedFont>
      <p:font typeface="Lora Bold" pitchFamily="34" charset="0"/>
      <p:bold r:id="rId23"/>
    </p:embeddedFont>
    <p:embeddedFont>
      <p:font typeface="Lora Bold" pitchFamily="34" charset="-122"/>
      <p:bold r:id="rId24"/>
    </p:embeddedFont>
    <p:embeddedFont>
      <p:font typeface="Lora Bold" pitchFamily="34" charset="-120"/>
      <p:bold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4.svg"/><Relationship Id="rId7" Type="http://schemas.openxmlformats.org/officeDocument/2006/relationships/image" Target="../media/image23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65138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Personalized Movie Recommendation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63713"/>
            <a:ext cx="4722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Based on User Preferences and Rating Analysis — An Intelligent ML-Powered Approach to Content Discovery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76811"/>
            <a:ext cx="1311325" cy="215354"/>
          </a:xfrm>
          <a:prstGeom prst="roundRect">
            <a:avLst>
              <a:gd name="adj" fmla="val 7900"/>
            </a:avLst>
          </a:prstGeom>
          <a:solidFill>
            <a:srgbClr val="D7F4E4"/>
          </a:solidFill>
        </p:spPr>
      </p:sp>
      <p:sp>
        <p:nvSpPr>
          <p:cNvPr id="6" name="Text 3"/>
          <p:cNvSpPr/>
          <p:nvPr/>
        </p:nvSpPr>
        <p:spPr>
          <a:xfrm>
            <a:off x="581174" y="3219301"/>
            <a:ext cx="1598414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878285" y="3176811"/>
            <a:ext cx="1714500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63341" y="3219301"/>
            <a:ext cx="2001589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COLLABORATIVE FILTERING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96119" y="3463007"/>
            <a:ext cx="1798365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1174" y="3505498"/>
            <a:ext cx="2085454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HYBRID RECOMMENDATIONS</a:t>
            </a:r>
            <a:endParaRPr lang="en-US" sz="850" dirty="0"/>
          </a:p>
        </p:txBody>
      </p:sp>
      <p:sp>
        <p:nvSpPr>
          <p:cNvPr id="11" name="Text Box 10"/>
          <p:cNvSpPr txBox="1"/>
          <p:nvPr/>
        </p:nvSpPr>
        <p:spPr>
          <a:xfrm>
            <a:off x="1426210" y="4505960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200" b="1"/>
              <a:t>CH.VINAY KUMAR</a:t>
            </a:r>
            <a:endParaRPr lang="en-IN" altLang="en-US" sz="1200" b="1"/>
          </a:p>
          <a:p>
            <a:r>
              <a:rPr lang="en-IN" altLang="en-US" sz="1200" b="1"/>
              <a:t>323129510059</a:t>
            </a:r>
            <a:endParaRPr lang="en-IN" altLang="en-US" sz="12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67705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Problem: Too Much Content, Too Little Discovery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666280"/>
            <a:ext cx="2290465" cy="1724099"/>
          </a:xfrm>
          <a:prstGeom prst="roundRect">
            <a:avLst>
              <a:gd name="adj" fmla="val 1233"/>
            </a:avLst>
          </a:prstGeom>
          <a:solidFill>
            <a:srgbClr val="F0EDE6"/>
          </a:solidFill>
        </p:spPr>
      </p:sp>
      <p:sp>
        <p:nvSpPr>
          <p:cNvPr id="5" name="Text 2"/>
          <p:cNvSpPr/>
          <p:nvPr/>
        </p:nvSpPr>
        <p:spPr>
          <a:xfrm>
            <a:off x="637877" y="1808038"/>
            <a:ext cx="200694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Content Overload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2114550"/>
            <a:ext cx="2006947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Streaming platforms host millions of titles, making meaningful discovery nearly impossible without intelligent guidance.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666280"/>
            <a:ext cx="2290539" cy="1724099"/>
          </a:xfrm>
          <a:prstGeom prst="roundRect">
            <a:avLst>
              <a:gd name="adj" fmla="val 1233"/>
            </a:avLst>
          </a:prstGeom>
          <a:solidFill>
            <a:srgbClr val="F0EDE6"/>
          </a:solidFill>
        </p:spPr>
      </p:sp>
      <p:sp>
        <p:nvSpPr>
          <p:cNvPr id="8" name="Text 5"/>
          <p:cNvSpPr/>
          <p:nvPr/>
        </p:nvSpPr>
        <p:spPr>
          <a:xfrm>
            <a:off x="3070101" y="1808038"/>
            <a:ext cx="2007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Generic Suggestions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0101" y="2114550"/>
            <a:ext cx="2007022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Traditional systems ignore individual preferences, serving the same trending list to every user.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532138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F0EDE6"/>
          </a:solidFill>
        </p:spPr>
      </p:sp>
      <p:sp>
        <p:nvSpPr>
          <p:cNvPr id="11" name="Text 8"/>
          <p:cNvSpPr/>
          <p:nvPr/>
        </p:nvSpPr>
        <p:spPr>
          <a:xfrm>
            <a:off x="637877" y="3673897"/>
            <a:ext cx="443924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Low Engagement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980408"/>
            <a:ext cx="443924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Poor personalization leads to user frustration, reduced watch time, and increased churn.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3126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Existing Systems vs. Our Proposed Solution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00473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Limitations of Current Systems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81398"/>
            <a:ext cx="1880592" cy="12288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1942207"/>
            <a:ext cx="1482775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consideration of viewing history or rating behavior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18470" y="1781398"/>
            <a:ext cx="1880592" cy="12288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55478" y="1942207"/>
            <a:ext cx="1482775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Static recommendations that never adapt over time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152031"/>
            <a:ext cx="1880592" cy="10020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3127" y="3312840"/>
            <a:ext cx="1482775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Single-algorithm approaches with high sparsity issues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8470" y="3152031"/>
            <a:ext cx="1880592" cy="10020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755478" y="3312840"/>
            <a:ext cx="1482775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watchlist personalization or trend awareness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4647605" y="1258714"/>
            <a:ext cx="4107135" cy="3281660"/>
          </a:xfrm>
          <a:prstGeom prst="roundRect">
            <a:avLst>
              <a:gd name="adj" fmla="val 648"/>
            </a:avLst>
          </a:prstGeom>
          <a:solidFill>
            <a:srgbClr val="1B5F39"/>
          </a:solidFill>
        </p:spPr>
      </p:sp>
      <p:sp>
        <p:nvSpPr>
          <p:cNvPr id="13" name="Text 7"/>
          <p:cNvSpPr/>
          <p:nvPr/>
        </p:nvSpPr>
        <p:spPr>
          <a:xfrm>
            <a:off x="4789363" y="1400473"/>
            <a:ext cx="382361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Our Intelligent Solution</a:t>
            </a:r>
            <a:endParaRPr lang="en-US" sz="13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9363" y="1781398"/>
            <a:ext cx="1840929" cy="122887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26372" y="1942207"/>
            <a:ext cx="1443112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Hybrid ML engine combining content-based and collaborative filtering</a:t>
            </a:r>
            <a:endParaRPr lang="en-US" sz="11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72052" y="1781398"/>
            <a:ext cx="1840929" cy="122887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009061" y="1942207"/>
            <a:ext cx="1443112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Continuous learning from ratings, history, and behavioral patterns</a:t>
            </a:r>
            <a:endParaRPr lang="en-US" sz="11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9363" y="3152031"/>
            <a:ext cx="1840929" cy="122887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026372" y="3312840"/>
            <a:ext cx="1443112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Multi-signal analysis: genres, actors, directors, and watch time</a:t>
            </a:r>
            <a:endParaRPr lang="en-US" sz="11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72052" y="3152031"/>
            <a:ext cx="1840929" cy="1228874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009061" y="3312840"/>
            <a:ext cx="1443112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Personalized watchlists and real-time trending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883"/>
            <a:ext cx="8151763" cy="3737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System Architecture &amp; Workflow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971476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796581"/>
            <a:ext cx="1834102" cy="2292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Hybrid Scoring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989577"/>
            <a:ext cx="1947459" cy="2292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Dual-Engine Processing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190724"/>
            <a:ext cx="1834102" cy="2292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Preprocess Features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383719"/>
            <a:ext cx="1834102" cy="2292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Collect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571181"/>
            <a:ext cx="8608963" cy="176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system operates as a continuous feedback loop — every user interaction refines the model, improving accuracy and relevance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7155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Core Recommendation Techniques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73659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82503"/>
            <a:ext cx="259913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Content-Based Filtering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89015"/>
            <a:ext cx="259913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Analyzes movie metadata — genres, cast, directors, keywords — to recommend titles similar to those a user has previously enjoyed.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773659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882503"/>
            <a:ext cx="259913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Collaborative Filtering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189015"/>
            <a:ext cx="259913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Identifies users with similar rating patterns and recommends movies liked by similar users. Uses user-based and item-based KNN.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773659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882503"/>
            <a:ext cx="259913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Hybrid Approach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189015"/>
            <a:ext cx="259913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Combines both techniques with weighted scoring to overcome cold-start problems and improve coverage and accuracy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 Collection, Preprocessing &amp; Similarity Measurement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453655"/>
            <a:ext cx="3986733" cy="1142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We Analyze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605534"/>
            <a:ext cx="3986733" cy="3937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Explicit signals: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Star ratings, thumbs up/down, written reviews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Implicit signals: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Watch duration, re-watches, search behavior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Preference vectors: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Favorite genres, preferred languages, time-of-day patterns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Social context: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Similar user clusters, trending within peer groups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0623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Model Evaluation Metrics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7568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257970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How We Measure Success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621185"/>
            <a:ext cx="3902943" cy="19631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Precision &amp; Recall: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Measure relevance and coverage of recommendations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F1-Score: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Harmonic mean balancing precision and recall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RMSE &amp; MAE: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Quantify rating prediction error on test data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A/B Testing: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Live comparison of algorithm variants in production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3743846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D7F4E4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958903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906813"/>
            <a:ext cx="330048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 benchmarks are based on MovieLens 1M dataset baselines and industry standards.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4808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Modules, User Roles &amp; Technology Stack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82154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User Roles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663080"/>
            <a:ext cx="1880592" cy="2007617"/>
          </a:xfrm>
          <a:prstGeom prst="roundRect">
            <a:avLst>
              <a:gd name="adj" fmla="val 1131"/>
            </a:avLst>
          </a:prstGeom>
          <a:solidFill>
            <a:srgbClr val="F0EDE6"/>
          </a:solidFill>
        </p:spPr>
      </p:sp>
      <p:sp>
        <p:nvSpPr>
          <p:cNvPr id="5" name="Text 3"/>
          <p:cNvSpPr/>
          <p:nvPr/>
        </p:nvSpPr>
        <p:spPr>
          <a:xfrm>
            <a:off x="637877" y="1804839"/>
            <a:ext cx="159707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End User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168054"/>
            <a:ext cx="1597075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Browse, rate, build watchlists, receive personalized recommendations, view trending movies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8470" y="1663080"/>
            <a:ext cx="1880592" cy="2007617"/>
          </a:xfrm>
          <a:prstGeom prst="roundRect">
            <a:avLst>
              <a:gd name="adj" fmla="val 1131"/>
            </a:avLst>
          </a:prstGeom>
          <a:solidFill>
            <a:srgbClr val="F0EDE6"/>
          </a:solidFill>
        </p:spPr>
      </p:sp>
      <p:sp>
        <p:nvSpPr>
          <p:cNvPr id="8" name="Text 6"/>
          <p:cNvSpPr/>
          <p:nvPr/>
        </p:nvSpPr>
        <p:spPr>
          <a:xfrm>
            <a:off x="2660228" y="1804839"/>
            <a:ext cx="159707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Administrator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60228" y="2168054"/>
            <a:ext cx="1597075" cy="13608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Manage movie database, monitor analytics dashboard, configure ML parameters, generate reports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49701" y="1282154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Technology Stack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749701" y="1663080"/>
            <a:ext cx="1880592" cy="1002060"/>
          </a:xfrm>
          <a:prstGeom prst="roundRect">
            <a:avLst>
              <a:gd name="adj" fmla="val 2122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510" y="1823889"/>
            <a:ext cx="155897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Backend: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Python, Flask / Django, Scikit-learn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72052" y="1663080"/>
            <a:ext cx="1880592" cy="1002060"/>
          </a:xfrm>
          <a:prstGeom prst="roundRect">
            <a:avLst>
              <a:gd name="adj" fmla="val 2122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32861" y="1823889"/>
            <a:ext cx="1558975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ML Libraries: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Surprise, TensorFlow, Pandas, NumPy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49701" y="2806898"/>
            <a:ext cx="1880592" cy="775246"/>
          </a:xfrm>
          <a:prstGeom prst="roundRect">
            <a:avLst>
              <a:gd name="adj" fmla="val 2743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510" y="2967707"/>
            <a:ext cx="155897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Database: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PostgreSQL, Redis (caching)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72052" y="2806898"/>
            <a:ext cx="1880592" cy="775246"/>
          </a:xfrm>
          <a:prstGeom prst="roundRect">
            <a:avLst>
              <a:gd name="adj" fmla="val 2743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32861" y="2967707"/>
            <a:ext cx="155897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Frontend: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React.js, D3.js (analytics)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49701" y="3723903"/>
            <a:ext cx="3902943" cy="775246"/>
          </a:xfrm>
          <a:prstGeom prst="roundRect">
            <a:avLst>
              <a:gd name="adj" fmla="val 2743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510" y="3884712"/>
            <a:ext cx="3581326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Security: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JWT Auth, HTTPS, Role-Based Access Control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1081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Advantages, Applications &amp; Future Roadmap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57586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1806253"/>
            <a:ext cx="352655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Higher User Satisfaction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2112764"/>
            <a:ext cx="352655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Relevant suggestions reduce decision fatigue and increase watch time.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757586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1250" y="1806253"/>
            <a:ext cx="35266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Increased Engagement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21250" y="2112764"/>
            <a:ext cx="3526631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Personalized watchlists and trending feeds drive daily active usage.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849910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6816" y="2898577"/>
            <a:ext cx="352655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Scalable Architecture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56816" y="3205088"/>
            <a:ext cx="352655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Designed to handle millions of users and titles with low-latency inference.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2849910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21250" y="2898577"/>
            <a:ext cx="35266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Future Enhancements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21250" y="3205088"/>
            <a:ext cx="3526631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Deep learning (Neural Collaborative Filtering), real-time streaming recommendations, multi-modal content understanding (visual + audio features), and cross-platform personalization.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6318"/>
            <a:ext cx="4722763" cy="3737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Conclusion &amp; Expected Outcomes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3925119" y="951458"/>
            <a:ext cx="4722763" cy="5290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This system delivers a </a:t>
            </a: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smarter, adaptive, and user-centric</a:t>
            </a: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movie discovery experience by fusing collaborative filtering, content-based analysis, and continuous feedback learning.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925119" y="1653778"/>
            <a:ext cx="2298278" cy="3947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87%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3925119" y="2183978"/>
            <a:ext cx="2298278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Precision Target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925119" y="2431331"/>
            <a:ext cx="2298278" cy="176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Relevant recommendations delivered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349529" y="1653778"/>
            <a:ext cx="2298353" cy="3947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3x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349529" y="2183978"/>
            <a:ext cx="2298353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Engagement Lift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349529" y="2431331"/>
            <a:ext cx="2298353" cy="176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Expected vs. non-personalized systems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137324" y="2869257"/>
            <a:ext cx="2298278" cy="3947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24/7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5137324" y="3399458"/>
            <a:ext cx="2298278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Continuous Learning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137324" y="3646810"/>
            <a:ext cx="2298278" cy="176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 updates with every interaction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925119" y="3936653"/>
            <a:ext cx="4722763" cy="780455"/>
          </a:xfrm>
          <a:prstGeom prst="roundRect">
            <a:avLst>
              <a:gd name="adj" fmla="val 2299"/>
            </a:avLst>
          </a:prstGeom>
          <a:solidFill>
            <a:srgbClr val="B6FCB8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702" y="4100438"/>
            <a:ext cx="149498" cy="11958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13783" y="4067398"/>
            <a:ext cx="4214515" cy="5290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well-designed hybrid recommendation engine transforms passive browsing into an intelligent, personalized entertainment journey — driving satisfaction, retention, and platform growth.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4175</Words>
  <Application>WPS Presentation</Application>
  <PresentationFormat>On-screen Show (16:9)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Alice</vt:lpstr>
      <vt:lpstr>Alice</vt:lpstr>
      <vt:lpstr>Alice</vt:lpstr>
      <vt:lpstr>Lora</vt:lpstr>
      <vt:lpstr>Lora</vt:lpstr>
      <vt:lpstr>Lora</vt:lpstr>
      <vt:lpstr>Lora Bold</vt:lpstr>
      <vt:lpstr>Lora Bold</vt:lpstr>
      <vt:lpstr>Lora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sandeep chintalapudi</cp:lastModifiedBy>
  <cp:revision>2</cp:revision>
  <dcterms:created xsi:type="dcterms:W3CDTF">2026-07-28T05:43:00Z</dcterms:created>
  <dcterms:modified xsi:type="dcterms:W3CDTF">2026-09-30T06:01:19Z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C8FFF5936943455BACB69C52C73CAA06_13</vt:lpwstr>
  </property>
  <property fmtid="{D5CDD505-2E9C-101B-9397-08002B2CF9AE}" pid="3" name="KSOProductBuildVer">
    <vt:lpwstr>1033-12.1.0.28032</vt:lpwstr>
  </property>
</Properties>
</file>